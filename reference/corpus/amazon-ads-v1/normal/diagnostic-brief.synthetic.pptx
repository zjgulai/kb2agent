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46c44d0544122" /><Relationship Type="http://schemas.openxmlformats.org/officeDocument/2006/relationships/extended-properties" Target="/docProps/app.xml" Id="R50a4d6cdda164090" /><Relationship Type="http://schemas.openxmlformats.org/officeDocument/2006/relationships/officeDocument" Target="/ppt/presentation.xml" Id="R977d1797221944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136fd0b394f74"/>
  </p:sldMasterIdLst>
  <p:notesMasterIdLst>
    <p:notesMasterId xmlns:r="http://schemas.openxmlformats.org/officeDocument/2006/relationships" r:id="R55eacdd357ff4122"/>
  </p:notesMasterIdLst>
  <p:sldIdLst>
    <p:sldId xmlns:r="http://schemas.openxmlformats.org/officeDocument/2006/relationships" id="256" r:id="Rd8abc6e5d9074d08"/>
    <p:sldId xmlns:r="http://schemas.openxmlformats.org/officeDocument/2006/relationships" id="257" r:id="Rdcc5cfa126fd4204"/>
    <p:sldId xmlns:r="http://schemas.openxmlformats.org/officeDocument/2006/relationships" id="258" r:id="Rad202bb8f5fa49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e1dfc2704423e" /><Relationship Type="http://schemas.openxmlformats.org/officeDocument/2006/relationships/slideMaster" Target="/ppt/slideMasters/slideMaster1.xml" Id="R955136fd0b394f74" /><Relationship Type="http://schemas.openxmlformats.org/officeDocument/2006/relationships/notesMaster" Target="/ppt/notesMasters/notesMaster1.xml" Id="R55eacdd357ff4122" /><Relationship Type="http://schemas.openxmlformats.org/officeDocument/2006/relationships/presProps" Target="/ppt/presProps.xml" Id="R33c6d6d0f83b4115" /><Relationship Type="http://schemas.openxmlformats.org/officeDocument/2006/relationships/tableStyles" Target="/ppt/tableStyles.xml" Id="R6620a006c46c41f0" /><Relationship Type="http://schemas.openxmlformats.org/officeDocument/2006/relationships/slide" Target="/ppt/slides/slide1.xml" Id="Rd8abc6e5d9074d08" /><Relationship Type="http://schemas.openxmlformats.org/officeDocument/2006/relationships/slide" Target="/ppt/slides/slide2.xml" Id="Rdcc5cfa126fd4204" /><Relationship Type="http://schemas.openxmlformats.org/officeDocument/2006/relationships/slide" Target="/ppt/slides/slide3.xml" Id="Rad202bb8f5fa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562148f8c4f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f739967214b43" /><Relationship Type="http://schemas.openxmlformats.org/officeDocument/2006/relationships/notesMaster" Target="/ppt/notesMasters/notesMaster1.xml" Id="R53cbbff79006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c9feff8044c2a" /><Relationship Type="http://schemas.openxmlformats.org/officeDocument/2006/relationships/notesMaster" Target="/ppt/notesMasters/notesMaster1.xml" Id="R00be64ff261647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8237ee60e4d69" /><Relationship Type="http://schemas.openxmlformats.org/officeDocument/2006/relationships/notesMaster" Target="/ppt/notesMasters/notesMaster1.xml" Id="R130fc195004f46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0fb1c0b83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a13440f6224ea5" /><Relationship Type="http://schemas.openxmlformats.org/officeDocument/2006/relationships/slideLayout" Target="/ppt/slideLayouts/slideLayout1.xml" Id="R0b60b2028693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0b2028693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0f6cf3564459c" /><Relationship Type="http://schemas.openxmlformats.org/officeDocument/2006/relationships/notesSlide" Target="/ppt/notesSlides/notesSlide1.xml" Id="Rcc3698e07bdb4c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e1ffe6ed4058" /><Relationship Type="http://schemas.openxmlformats.org/officeDocument/2006/relationships/chart" Target="/ppt/slides/charts/chart1.xml" Id="R47e43253b1394190" /><Relationship Type="http://schemas.openxmlformats.org/officeDocument/2006/relationships/notesSlide" Target="/ppt/notesSlides/notesSlide2.xml" Id="R4d6d1677fb1f4f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2cd2c04c343b7" /><Relationship Type="http://schemas.openxmlformats.org/officeDocument/2006/relationships/notesSlide" Target="/ppt/notesSlides/notesSlide3.xml" Id="R40df65d72dd447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ACOS</c:v>
          </c:tx>
          <c:spPr>
            <a:solidFill xmlns:a="http://schemas.openxmlformats.org/drawingml/2006/main">
              <a:srgbClr val="294B68"/>
            </a:solidFill>
          </c:spPr>
          <c:cat>
            <c:strLit>
              <c:ptCount val="2"/>
              <c:pt idx="0">
                <c:v>Previous 7d</c:v>
              </c:pt>
              <c:pt idx="1">
                <c:v>Latest 7d</c:v>
              </c:pt>
            </c:strLit>
          </c:cat>
          <c:val>
            <c:numLit>
              <c:formatCode>General</c:formatCode>
              <c:ptCount val="2"/>
              <c:pt idx="0">
                <c:v>28.4</c:v>
              </c:pt>
              <c:pt idx="1">
                <c:v>36.9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4B0DB054-274B-4508-9CD9-871FC40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94B68"/>
                </a:solidFill>
              </a:defRPr>
            </a:pPr>
            <a:r>
              <a:rPr sz="1200" b="1">
                <a:solidFill>
                  <a:srgbClr val="294B68"/>
                </a:solidFill>
              </a:rPr>
              <a:t>MKD · SYNTHETIC REFERENCE CORPUS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DBE84-D61B-4C05-9C74-6C70632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52B"/>
                </a:solidFill>
              </a:defRPr>
            </a:pPr>
            <a:r>
              <a:rPr sz="4350" b="1">
                <a:solidFill>
                  <a:srgbClr val="20252B"/>
                </a:solidFill>
              </a:rPr>
              <a:t>ACOS rose.</a:t>
            </a:r>
          </a:p>
          <a:p xmlns:a="http://schemas.openxmlformats.org/drawingml/2006/main">
            <a:pPr>
              <a:defRPr sz="4350" b="1">
                <a:solidFill>
                  <a:srgbClr val="20252B"/>
                </a:solidFill>
              </a:defRPr>
            </a:pPr>
            <a:r>
              <a:rPr sz="4350" b="1">
                <a:solidFill>
                  <a:srgbClr val="20252B"/>
                </a:solidFill>
              </a:rPr>
              <a:t>The cause is still unknown.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FEAEF58-6C88-4A52-9EE6-983B8922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6616A"/>
                </a:solidFill>
              </a:defRPr>
            </a:pPr>
            <a:r>
              <a:rPr sz="1800">
                <a:solidFill>
                  <a:srgbClr val="56616A"/>
                </a:solidFill>
              </a:rPr>
              <a:t>A fixed Amazon Ads evidence brief for deterministic replay — not customer or platform data.</a:t>
            </a:r>
          </a:p>
        </p:txBody>
      </p:sp>
      <p:sp>
        <p:nvSpPr>
          <p:cNvPr id="4" name="meta">
            <a:extLst xmlns:a="http://schemas.openxmlformats.org/drawingml/2006/main">
              <a:ext uri="{FF2B5EF4-FFF2-40B4-BE49-F238E27FC236}">
                <a16:creationId xmlns:a16="http://schemas.microsoft.com/office/drawing/2014/main" id="{77CB22D0-E1ED-4799-AD52-23F0770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54B35"/>
                </a:solidFill>
              </a:defRPr>
            </a:pPr>
            <a:r>
              <a:rPr sz="1125" b="1">
                <a:solidFill>
                  <a:srgbClr val="A54B35"/>
                </a:solidFill>
              </a:rPr>
              <a:t>AS OF 2026-08-01 · LO-S SYNTHETIC · EXTERNAL WRITES 0</a:t>
            </a:r>
          </a:p>
        </p:txBody>
      </p:sp>
    </p:spTree>
    <p:extLst>
      <p:ext uri="{BB962C8B-B14F-4D97-AF65-F5344CB8AC3E}">
        <p14:creationId xmlns:p14="http://schemas.microsoft.com/office/powerpoint/2010/main" val="288376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957F6F-B432-4E3C-9DFC-91FF5BB6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The observed change is exact; the explanation is not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5B14248-086D-4560-ABED-98B9B80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16A"/>
                </a:solidFill>
              </a:defRPr>
            </a:pPr>
            <a:r>
              <a:rPr sz="1425">
                <a:solidFill>
                  <a:srgbClr val="56616A"/>
                </a:solidFill>
              </a:rPr>
              <a:t>Two adjacent seven-day windows · same synthetic currency and attribution setting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00100" y="2000250"/>
          <a:ext xmlns:a="http://schemas.openxmlformats.org/drawingml/2006/main" cx="6096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e43253b1394190"/>
          </a:graphicData>
        </a:graphic>
      </p:graphicFrame>
      <p:sp>
        <p:nvSpPr>
          <p:cNvPr id="4" name="known-label">
            <a:extLst xmlns:a="http://schemas.openxmlformats.org/drawingml/2006/main">
              <a:ext uri="{FF2B5EF4-FFF2-40B4-BE49-F238E27FC236}">
                <a16:creationId xmlns:a16="http://schemas.microsoft.com/office/drawing/2014/main" id="{62D5A910-7006-4EE4-A71D-E44EFA63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94B68"/>
                </a:solidFill>
              </a:defRPr>
            </a:pPr>
            <a:r>
              <a:rPr sz="1200" b="1">
                <a:solidFill>
                  <a:srgbClr val="294B68"/>
                </a:solidFill>
              </a:rPr>
              <a:t>KNOWN</a:t>
            </a:r>
          </a:p>
        </p:txBody>
      </p:sp>
      <p:sp>
        <p:nvSpPr>
          <p:cNvPr id="5" name="known">
            <a:extLst xmlns:a="http://schemas.openxmlformats.org/drawingml/2006/main">
              <a:ext uri="{FF2B5EF4-FFF2-40B4-BE49-F238E27FC236}">
                <a16:creationId xmlns:a16="http://schemas.microsoft.com/office/drawing/2014/main" id="{25878FE9-BCEC-4360-A405-283D9FAE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52B"/>
                </a:solidFill>
              </a:defRPr>
            </a:pPr>
            <a:r>
              <a:rPr sz="2250" b="1">
                <a:solidFill>
                  <a:srgbClr val="20252B"/>
                </a:solidFill>
              </a:rPr>
              <a:t>ACOS increased</a:t>
            </a:r>
          </a:p>
          <a:p xmlns:a="http://schemas.openxmlformats.org/drawingml/2006/main">
            <a:pPr>
              <a:defRPr sz="2250" b="1">
                <a:solidFill>
                  <a:srgbClr val="20252B"/>
                </a:solidFill>
              </a:defRPr>
            </a:pPr>
            <a:r>
              <a:rPr sz="2250" b="1">
                <a:solidFill>
                  <a:srgbClr val="20252B"/>
                </a:solidFill>
              </a:rPr>
              <a:t>28.4% → 36.9%</a:t>
            </a:r>
          </a:p>
        </p:txBody>
      </p:sp>
      <p:sp>
        <p:nvSpPr>
          <p:cNvPr id="6" name="unknown-label">
            <a:extLst xmlns:a="http://schemas.openxmlformats.org/drawingml/2006/main">
              <a:ext uri="{FF2B5EF4-FFF2-40B4-BE49-F238E27FC236}">
                <a16:creationId xmlns:a16="http://schemas.microsoft.com/office/drawing/2014/main" id="{5496A8ED-6269-49EB-B755-B5D6DF33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54B35"/>
                </a:solidFill>
              </a:defRPr>
            </a:pPr>
            <a:r>
              <a:rPr sz="1200" b="1">
                <a:solidFill>
                  <a:srgbClr val="A54B35"/>
                </a:solidFill>
              </a:rPr>
              <a:t>UNKNOWN</a:t>
            </a:r>
          </a:p>
        </p:txBody>
      </p:sp>
      <p:sp>
        <p:nvSpPr>
          <p:cNvPr id="7" name="unknown">
            <a:extLst xmlns:a="http://schemas.openxmlformats.org/drawingml/2006/main">
              <a:ext uri="{FF2B5EF4-FFF2-40B4-BE49-F238E27FC236}">
                <a16:creationId xmlns:a16="http://schemas.microsoft.com/office/drawing/2014/main" id="{13C81630-6A7E-44D1-9D85-B76B35F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52B"/>
                </a:solidFill>
              </a:defRPr>
            </a:pPr>
            <a:r>
              <a:rPr sz="1800">
                <a:solidFill>
                  <a:srgbClr val="20252B"/>
                </a:solidFill>
              </a:rPr>
              <a:t>Comparable CPC, CVR, price and availability evidence</a:t>
            </a:r>
          </a:p>
        </p:txBody>
      </p:sp>
    </p:spTree>
    <p:extLst>
      <p:ext uri="{BB962C8B-B14F-4D97-AF65-F5344CB8AC3E}">
        <p14:creationId xmlns:p14="http://schemas.microsoft.com/office/powerpoint/2010/main" val="327598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07E757-052D-4CD0-BCA9-3612104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Request evidence before drafting any optimization</a:t>
            </a:r>
          </a:p>
        </p:txBody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579BEEBB-0F57-46FC-84FC-EF4F99D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94B68"/>
                </a:solidFill>
              </a:defRPr>
            </a:pPr>
            <a:r>
              <a:rPr sz="1200" b="1">
                <a:solidFill>
                  <a:srgbClr val="294B68"/>
                </a:solidFill>
              </a:rPr>
              <a:t>01 · CHECK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229D276-A010-4596-8416-B5E33770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Confirm identical attribution windows and currency.</a:t>
            </a:r>
          </a:p>
        </p:txBody>
      </p:sp>
      <p:sp>
        <p:nvSpPr>
          <p:cNvPr id="4" name="label-2">
            <a:extLst xmlns:a="http://schemas.openxmlformats.org/drawingml/2006/main">
              <a:ext uri="{FF2B5EF4-FFF2-40B4-BE49-F238E27FC236}">
                <a16:creationId xmlns:a16="http://schemas.microsoft.com/office/drawing/2014/main" id="{92991450-8302-491F-8C18-D02458B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94B68"/>
                </a:solidFill>
              </a:defRPr>
            </a:pPr>
            <a:r>
              <a:rPr sz="1200" b="1">
                <a:solidFill>
                  <a:srgbClr val="294B68"/>
                </a:solidFill>
              </a:rPr>
              <a:t>02 · CALCULATE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F9B61F3-35CC-4463-8DF4-8C0D392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Compare CPC and CVR only when clicks and orders are present.</a:t>
            </a:r>
          </a:p>
        </p:txBody>
      </p:sp>
      <p:sp>
        <p:nvSpPr>
          <p:cNvPr id="6" name="label-3">
            <a:extLst xmlns:a="http://schemas.openxmlformats.org/drawingml/2006/main">
              <a:ext uri="{FF2B5EF4-FFF2-40B4-BE49-F238E27FC236}">
                <a16:creationId xmlns:a16="http://schemas.microsoft.com/office/drawing/2014/main" id="{96BE62A1-ACE9-404C-B49A-7C47E82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54B35"/>
                </a:solidFill>
              </a:defRPr>
            </a:pPr>
            <a:r>
              <a:rPr sz="1200" b="1">
                <a:solidFill>
                  <a:srgbClr val="A54B35"/>
                </a:solidFill>
              </a:rPr>
              <a:t>03 · STOP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AD20B66E-13BC-48F2-AB62-56BF3D6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Do not change budget, bids, targeting or campaign state.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1BA6C1F-76E2-44FB-8341-7C2B36B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616A"/>
                </a:solidFill>
              </a:defRPr>
            </a:pPr>
            <a:r>
              <a:rPr sz="1200" b="1">
                <a:solidFill>
                  <a:srgbClr val="56616A"/>
                </a:solidFill>
              </a:rPr>
              <a:t>OUTPUT: evidence request + manual action draft · MODE: replay · E-LEVEL: E2</a:t>
            </a:r>
          </a:p>
        </p:txBody>
      </p:sp>
    </p:spTree>
    <p:extLst>
      <p:ext uri="{BB962C8B-B14F-4D97-AF65-F5344CB8AC3E}">
        <p14:creationId xmlns:p14="http://schemas.microsoft.com/office/powerpoint/2010/main" val="772215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2026-08-09T09:26:24.3580000Z</dcterms:created>
  <dcterms:modified xsi:type="dcterms:W3CDTF">2026-08-09T09:26:24.3580000Z</dcterms:modified>
</coreProperties>
</file>